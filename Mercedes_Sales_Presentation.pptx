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nton" charset="1" panose="00000500000000000000"/>
      <p:regular r:id="rId15"/>
    </p:embeddedFont>
    <p:embeddedFont>
      <p:font typeface="Arimo" charset="1" panose="020B0604020202020204"/>
      <p:regular r:id="rId16"/>
    </p:embeddedFont>
    <p:embeddedFont>
      <p:font typeface="Arimo Bold" charset="1" panose="020B0704020202020204"/>
      <p:regular r:id="rId17"/>
    </p:embeddedFont>
    <p:embeddedFont>
      <p:font typeface="Georgia" charset="1" panose="02040502050405020303"/>
      <p:regular r:id="rId18"/>
    </p:embeddedFont>
    <p:embeddedFont>
      <p:font typeface="Ara Hamah Homs" charset="1" panose="00000500000000000000"/>
      <p:regular r:id="rId19"/>
    </p:embeddedFont>
    <p:embeddedFont>
      <p:font typeface="Heading Now 71-78 Bold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Relationship Id="rId9" Target="https://www.linkedin.com/in/abdalla-mohamed-farouk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0806" y="7715846"/>
            <a:ext cx="15296123" cy="1542454"/>
            <a:chOff x="0" y="0"/>
            <a:chExt cx="604524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5249" cy="609600"/>
            </a:xfrm>
            <a:custGeom>
              <a:avLst/>
              <a:gdLst/>
              <a:ahLst/>
              <a:cxnLst/>
              <a:rect r="r" b="b" t="t" l="l"/>
              <a:pathLst>
                <a:path h="609600" w="6045249">
                  <a:moveTo>
                    <a:pt x="203200" y="0"/>
                  </a:moveTo>
                  <a:lnTo>
                    <a:pt x="6045249" y="0"/>
                  </a:lnTo>
                  <a:lnTo>
                    <a:pt x="584204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9425">
                    <a:alpha val="100000"/>
                  </a:srgbClr>
                </a:gs>
                <a:gs pos="100000">
                  <a:srgbClr val="FFCE6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584204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20074" y="2179074"/>
            <a:ext cx="7394260" cy="5928852"/>
          </a:xfrm>
          <a:custGeom>
            <a:avLst/>
            <a:gdLst/>
            <a:ahLst/>
            <a:cxnLst/>
            <a:rect r="r" b="b" t="t" l="l"/>
            <a:pathLst>
              <a:path h="5928852" w="7394260">
                <a:moveTo>
                  <a:pt x="0" y="0"/>
                </a:moveTo>
                <a:lnTo>
                  <a:pt x="7394259" y="0"/>
                </a:lnTo>
                <a:lnTo>
                  <a:pt x="7394259" y="5928852"/>
                </a:lnTo>
                <a:lnTo>
                  <a:pt x="0" y="592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0806" y="2400639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9"/>
                </a:lnTo>
                <a:lnTo>
                  <a:pt x="0" y="366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0" y="-731182"/>
            <a:ext cx="18288000" cy="4123113"/>
          </a:xfrm>
          <a:custGeom>
            <a:avLst/>
            <a:gdLst/>
            <a:ahLst/>
            <a:cxnLst/>
            <a:rect r="r" b="b" t="t" l="l"/>
            <a:pathLst>
              <a:path h="4123113" w="18288000">
                <a:moveTo>
                  <a:pt x="0" y="4123113"/>
                </a:moveTo>
                <a:lnTo>
                  <a:pt x="18288000" y="4123113"/>
                </a:lnTo>
                <a:lnTo>
                  <a:pt x="18288000" y="0"/>
                </a:lnTo>
                <a:lnTo>
                  <a:pt x="0" y="0"/>
                </a:lnTo>
                <a:lnTo>
                  <a:pt x="0" y="4123113"/>
                </a:lnTo>
                <a:close/>
              </a:path>
            </a:pathLst>
          </a:custGeom>
          <a:blipFill>
            <a:blip r:embed="rId6">
              <a:alphaModFix amt="1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78252" y="3391931"/>
            <a:ext cx="9539631" cy="8198120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8"/>
              <a:stretch>
                <a:fillRect l="0" t="-8181" r="0" b="-818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42666" y="3784575"/>
            <a:ext cx="802921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MERCEDES-BENZ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9104" y="8172699"/>
            <a:ext cx="534700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presented by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Abdalla Mohamed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5850236"/>
            <a:ext cx="16325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A9D6F5"/>
                </a:solidFill>
                <a:latin typeface="Arimo"/>
                <a:ea typeface="Arimo"/>
                <a:cs typeface="Arimo"/>
                <a:sym typeface="Arimo"/>
              </a:rPr>
              <a:t>Global sales performance, 2019–2023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6121" y="2459940"/>
            <a:ext cx="9478723" cy="1268781"/>
            <a:chOff x="0" y="0"/>
            <a:chExt cx="4554158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54158" cy="609600"/>
            </a:xfrm>
            <a:custGeom>
              <a:avLst/>
              <a:gdLst/>
              <a:ahLst/>
              <a:cxnLst/>
              <a:rect r="r" b="b" t="t" l="l"/>
              <a:pathLst>
                <a:path h="609600" w="4554158">
                  <a:moveTo>
                    <a:pt x="203200" y="0"/>
                  </a:moveTo>
                  <a:lnTo>
                    <a:pt x="4554158" y="0"/>
                  </a:lnTo>
                  <a:lnTo>
                    <a:pt x="435095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9425">
                    <a:alpha val="100000"/>
                  </a:srgbClr>
                </a:gs>
                <a:gs pos="100000">
                  <a:srgbClr val="FFCE6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4350958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827744" y="-653564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3" y="0"/>
                </a:lnTo>
                <a:lnTo>
                  <a:pt x="4196123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-1636578" y="2387957"/>
            <a:ext cx="9608092" cy="5511086"/>
            <a:chOff x="0" y="0"/>
            <a:chExt cx="7981950" cy="45783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1080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0" t="-6523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030376" y="7942788"/>
            <a:ext cx="4457847" cy="1315512"/>
          </a:xfrm>
          <a:custGeom>
            <a:avLst/>
            <a:gdLst/>
            <a:ahLst/>
            <a:cxnLst/>
            <a:rect r="r" b="b" t="t" l="l"/>
            <a:pathLst>
              <a:path h="1315512" w="4457847">
                <a:moveTo>
                  <a:pt x="0" y="0"/>
                </a:moveTo>
                <a:lnTo>
                  <a:pt x="4457848" y="0"/>
                </a:lnTo>
                <a:lnTo>
                  <a:pt x="4457848" y="1315512"/>
                </a:lnTo>
                <a:lnTo>
                  <a:pt x="0" y="13155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445409" y="1028700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64708" y="2627593"/>
            <a:ext cx="6265444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THE</a:t>
            </a:r>
            <a:r>
              <a:rPr lang="en-US" sz="6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PROBLEM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71270" y="3931181"/>
            <a:ext cx="4406072" cy="62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5"/>
              </a:lnSpc>
            </a:pPr>
            <a:r>
              <a:rPr lang="en-US" sz="4472">
                <a:solidFill>
                  <a:srgbClr val="FFBD59"/>
                </a:solidFill>
                <a:latin typeface="Georgia"/>
                <a:ea typeface="Georgia"/>
                <a:cs typeface="Georgia"/>
                <a:sym typeface="Georgia"/>
              </a:rPr>
              <a:t>Why this project?</a:t>
            </a:r>
          </a:p>
        </p:txBody>
      </p:sp>
      <p:sp>
        <p:nvSpPr>
          <p:cNvPr name="AutoShape 16" id="16"/>
          <p:cNvSpPr/>
          <p:nvPr/>
        </p:nvSpPr>
        <p:spPr>
          <a:xfrm>
            <a:off x="7564714" y="4779412"/>
            <a:ext cx="11343962" cy="14244"/>
          </a:xfrm>
          <a:prstGeom prst="line">
            <a:avLst/>
          </a:prstGeom>
          <a:ln cap="rnd" w="9525">
            <a:solidFill>
              <a:srgbClr val="BFC4C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571526" y="4968454"/>
            <a:ext cx="2104012" cy="30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677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Scale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41093" y="4973367"/>
            <a:ext cx="4954384" cy="3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012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25+ models sold across 20+ countries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7564714" y="5513015"/>
            <a:ext cx="11343962" cy="14244"/>
          </a:xfrm>
          <a:prstGeom prst="line">
            <a:avLst/>
          </a:prstGeom>
          <a:ln cap="rnd" w="9525">
            <a:solidFill>
              <a:srgbClr val="BFC4C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7571526" y="5702057"/>
            <a:ext cx="2104012" cy="30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677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Scatter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1093" y="5706970"/>
            <a:ext cx="6311527" cy="3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012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Data spread across years, regions and channels</a:t>
            </a:r>
          </a:p>
        </p:txBody>
      </p:sp>
      <p:sp>
        <p:nvSpPr>
          <p:cNvPr name="AutoShape 22" id="22"/>
          <p:cNvSpPr/>
          <p:nvPr/>
        </p:nvSpPr>
        <p:spPr>
          <a:xfrm>
            <a:off x="7564714" y="6246619"/>
            <a:ext cx="11343962" cy="14244"/>
          </a:xfrm>
          <a:prstGeom prst="line">
            <a:avLst/>
          </a:prstGeom>
          <a:ln cap="rnd" w="9525">
            <a:solidFill>
              <a:srgbClr val="BFC4C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7571526" y="6435668"/>
            <a:ext cx="2104012" cy="30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677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Blind spots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41093" y="6440573"/>
            <a:ext cx="5673514" cy="3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012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Hard to see what is working and what is not</a:t>
            </a:r>
          </a:p>
        </p:txBody>
      </p:sp>
      <p:sp>
        <p:nvSpPr>
          <p:cNvPr name="AutoShape 25" id="25"/>
          <p:cNvSpPr/>
          <p:nvPr/>
        </p:nvSpPr>
        <p:spPr>
          <a:xfrm>
            <a:off x="7564714" y="6980229"/>
            <a:ext cx="11343962" cy="14244"/>
          </a:xfrm>
          <a:prstGeom prst="line">
            <a:avLst/>
          </a:prstGeom>
          <a:ln cap="rnd" w="9525">
            <a:solidFill>
              <a:srgbClr val="BFC4C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7571526" y="7169271"/>
            <a:ext cx="2104012" cy="303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7"/>
              </a:lnSpc>
            </a:pPr>
            <a:r>
              <a:rPr lang="en-US" sz="1677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The need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093" y="7174184"/>
            <a:ext cx="5232032" cy="32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5"/>
              </a:lnSpc>
            </a:pPr>
            <a:r>
              <a:rPr lang="en-US" sz="2012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A single view for fast business decisions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8781" y="7744967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1238" y="-2033048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0806" y="845361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8"/>
                </a:lnTo>
                <a:lnTo>
                  <a:pt x="0" y="36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5409" y="8487324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5871" y="2260703"/>
            <a:ext cx="17048730" cy="34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 spc="234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03 THE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5871" y="2927164"/>
            <a:ext cx="17048730" cy="799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6265">
                <a:solidFill>
                  <a:srgbClr val="EEF2F5"/>
                </a:solidFill>
                <a:latin typeface="Georgia"/>
                <a:ea typeface="Georgia"/>
                <a:cs typeface="Georgia"/>
                <a:sym typeface="Georgia"/>
              </a:rPr>
              <a:t>An interactive Power BI dashboard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5871" y="4227902"/>
            <a:ext cx="3755024" cy="71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072">
                <a:solidFill>
                  <a:srgbClr val="CB0000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871" y="5187335"/>
            <a:ext cx="3755024" cy="4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819" b="true">
                <a:solidFill>
                  <a:srgbClr val="EEF2F5"/>
                </a:solidFill>
                <a:latin typeface="Arimo Bold"/>
                <a:ea typeface="Arimo Bold"/>
                <a:cs typeface="Arimo Bold"/>
                <a:sym typeface="Arimo Bold"/>
              </a:rPr>
              <a:t>Tracks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5871" y="5757130"/>
            <a:ext cx="3963965" cy="46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>
                <a:solidFill>
                  <a:srgbClr val="8D949C"/>
                </a:solidFill>
                <a:latin typeface="Arimo"/>
                <a:ea typeface="Arimo"/>
                <a:cs typeface="Arimo"/>
                <a:sym typeface="Arimo"/>
              </a:rPr>
              <a:t>Revenue, units and growth</a:t>
            </a:r>
          </a:p>
        </p:txBody>
      </p:sp>
      <p:sp>
        <p:nvSpPr>
          <p:cNvPr name="AutoShape 11" id="11"/>
          <p:cNvSpPr/>
          <p:nvPr/>
        </p:nvSpPr>
        <p:spPr>
          <a:xfrm>
            <a:off x="4839841" y="4313208"/>
            <a:ext cx="19884" cy="1879918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5178041" y="4227902"/>
            <a:ext cx="3755024" cy="71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072">
                <a:solidFill>
                  <a:srgbClr val="CB0000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78041" y="5187335"/>
            <a:ext cx="3755024" cy="4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819" b="true">
                <a:solidFill>
                  <a:srgbClr val="EEF2F5"/>
                </a:solidFill>
                <a:latin typeface="Arimo Bold"/>
                <a:ea typeface="Arimo Bold"/>
                <a:cs typeface="Arimo Bold"/>
                <a:sym typeface="Arimo Bold"/>
              </a:rPr>
              <a:t>Compares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78041" y="5757130"/>
            <a:ext cx="3755024" cy="46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>
                <a:solidFill>
                  <a:srgbClr val="8D949C"/>
                </a:solidFill>
                <a:latin typeface="Arimo"/>
                <a:ea typeface="Arimo"/>
                <a:cs typeface="Arimo"/>
                <a:sym typeface="Arimo"/>
              </a:rPr>
              <a:t>Car models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9142011" y="4313208"/>
            <a:ext cx="19884" cy="1879918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9480211" y="4227902"/>
            <a:ext cx="3755024" cy="71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072">
                <a:solidFill>
                  <a:srgbClr val="CB0000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0211" y="5187335"/>
            <a:ext cx="3755024" cy="4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819" b="true">
                <a:solidFill>
                  <a:srgbClr val="EEF2F5"/>
                </a:solidFill>
                <a:latin typeface="Arimo Bold"/>
                <a:ea typeface="Arimo Bold"/>
                <a:cs typeface="Arimo Bold"/>
                <a:sym typeface="Arimo Bold"/>
              </a:rPr>
              <a:t>Analyzes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0211" y="5757130"/>
            <a:ext cx="3755024" cy="46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>
                <a:solidFill>
                  <a:srgbClr val="8D949C"/>
                </a:solidFill>
                <a:latin typeface="Arimo"/>
                <a:ea typeface="Arimo"/>
                <a:cs typeface="Arimo"/>
                <a:sym typeface="Arimo"/>
              </a:rPr>
              <a:t>Regions and countries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13444181" y="4313208"/>
            <a:ext cx="19884" cy="1879918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3782381" y="4227902"/>
            <a:ext cx="3755024" cy="71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2"/>
              </a:lnSpc>
            </a:pPr>
            <a:r>
              <a:rPr lang="en-US" sz="4072">
                <a:solidFill>
                  <a:srgbClr val="CB0000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82381" y="5187335"/>
            <a:ext cx="3755024" cy="488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3"/>
              </a:lnSpc>
            </a:pPr>
            <a:r>
              <a:rPr lang="en-US" sz="2819" b="true">
                <a:solidFill>
                  <a:srgbClr val="EEF2F5"/>
                </a:solidFill>
                <a:latin typeface="Arimo Bold"/>
                <a:ea typeface="Arimo Bold"/>
                <a:cs typeface="Arimo Bold"/>
                <a:sym typeface="Arimo Bold"/>
              </a:rPr>
              <a:t>Shows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82381" y="5757130"/>
            <a:ext cx="3755024" cy="46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4"/>
              </a:lnSpc>
            </a:pPr>
            <a:r>
              <a:rPr lang="en-US" sz="2349">
                <a:solidFill>
                  <a:srgbClr val="8D949C"/>
                </a:solidFill>
                <a:latin typeface="Arimo"/>
                <a:ea typeface="Arimo"/>
                <a:cs typeface="Arimo"/>
                <a:sym typeface="Arimo"/>
              </a:rPr>
              <a:t>Trends over time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8781" y="7744967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1238" y="-2033048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0806" y="845361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8"/>
                </a:lnTo>
                <a:lnTo>
                  <a:pt x="0" y="36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5409" y="8487324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7692" y="2961495"/>
            <a:ext cx="1632508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What I used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696022" y="4005309"/>
          <a:ext cx="15811500" cy="2604215"/>
        </p:xfrm>
        <a:graphic>
          <a:graphicData uri="http://schemas.openxmlformats.org/drawingml/2006/table">
            <a:tbl>
              <a:tblPr/>
              <a:tblGrid>
                <a:gridCol w="7905750"/>
                <a:gridCol w="7905750"/>
              </a:tblGrid>
              <a:tr h="651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SOURCE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6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DESCRIPTION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6D9"/>
                    </a:solidFill>
                  </a:tcPr>
                </a:tc>
              </a:tr>
              <a:tr h="651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Mercedes Sales Data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 years of sales (2019–2023)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A9AB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Car Images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Model photos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10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Country Flags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FFFFFF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Region and country metadata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B6B9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7245557"/>
            <a:ext cx="16325088" cy="54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About 1,500+ records, 25+ models, 20+ countries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5871" y="2260703"/>
            <a:ext cx="17048730" cy="34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 spc="234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04 THE Data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21752" y="-1770787"/>
            <a:ext cx="2574366" cy="6115940"/>
            <a:chOff x="0" y="0"/>
            <a:chExt cx="520700" cy="1237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700" cy="1237031"/>
            </a:xfrm>
            <a:custGeom>
              <a:avLst/>
              <a:gdLst/>
              <a:ahLst/>
              <a:cxnLst/>
              <a:rect r="r" b="b" t="t" l="l"/>
              <a:pathLst>
                <a:path h="1237031" w="520700">
                  <a:moveTo>
                    <a:pt x="0" y="0"/>
                  </a:moveTo>
                  <a:lnTo>
                    <a:pt x="0" y="1021131"/>
                  </a:lnTo>
                  <a:lnTo>
                    <a:pt x="260350" y="1237031"/>
                  </a:lnTo>
                  <a:lnTo>
                    <a:pt x="520700" y="1021131"/>
                  </a:lnTo>
                  <a:lnTo>
                    <a:pt x="5207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9425">
                    <a:alpha val="100000"/>
                  </a:srgbClr>
                </a:gs>
                <a:gs pos="100000">
                  <a:srgbClr val="FFCE6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5875"/>
              <a:ext cx="520700" cy="992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2044402" y="25468"/>
            <a:ext cx="2574366" cy="7661697"/>
            <a:chOff x="0" y="0"/>
            <a:chExt cx="520700" cy="15496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0700" cy="1549681"/>
            </a:xfrm>
            <a:custGeom>
              <a:avLst/>
              <a:gdLst/>
              <a:ahLst/>
              <a:cxnLst/>
              <a:rect r="r" b="b" t="t" l="l"/>
              <a:pathLst>
                <a:path h="1549681" w="520700">
                  <a:moveTo>
                    <a:pt x="0" y="0"/>
                  </a:moveTo>
                  <a:lnTo>
                    <a:pt x="0" y="1333781"/>
                  </a:lnTo>
                  <a:lnTo>
                    <a:pt x="260350" y="1549681"/>
                  </a:lnTo>
                  <a:lnTo>
                    <a:pt x="520700" y="1333781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15875"/>
              <a:ext cx="520700" cy="13052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3027784" y="1471914"/>
            <a:ext cx="2574366" cy="9928003"/>
            <a:chOff x="0" y="0"/>
            <a:chExt cx="520700" cy="20080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" cy="2008071"/>
            </a:xfrm>
            <a:custGeom>
              <a:avLst/>
              <a:gdLst/>
              <a:ahLst/>
              <a:cxnLst/>
              <a:rect r="r" b="b" t="t" l="l"/>
              <a:pathLst>
                <a:path h="2008071" w="520700">
                  <a:moveTo>
                    <a:pt x="0" y="0"/>
                  </a:moveTo>
                  <a:lnTo>
                    <a:pt x="0" y="1792171"/>
                  </a:lnTo>
                  <a:lnTo>
                    <a:pt x="260350" y="2008071"/>
                  </a:lnTo>
                  <a:lnTo>
                    <a:pt x="520700" y="1792171"/>
                  </a:lnTo>
                  <a:lnTo>
                    <a:pt x="5207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9425">
                    <a:alpha val="100000"/>
                  </a:srgbClr>
                </a:gs>
                <a:gs pos="100000">
                  <a:srgbClr val="FFCE6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5875"/>
              <a:ext cx="520700" cy="1763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4376632" y="2686967"/>
            <a:ext cx="2574366" cy="12625699"/>
            <a:chOff x="0" y="0"/>
            <a:chExt cx="520700" cy="25537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0700" cy="2553716"/>
            </a:xfrm>
            <a:custGeom>
              <a:avLst/>
              <a:gdLst/>
              <a:ahLst/>
              <a:cxnLst/>
              <a:rect r="r" b="b" t="t" l="l"/>
              <a:pathLst>
                <a:path h="2553716" w="520700">
                  <a:moveTo>
                    <a:pt x="0" y="0"/>
                  </a:moveTo>
                  <a:lnTo>
                    <a:pt x="0" y="2337816"/>
                  </a:lnTo>
                  <a:lnTo>
                    <a:pt x="260350" y="2553716"/>
                  </a:lnTo>
                  <a:lnTo>
                    <a:pt x="520700" y="2337816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5875"/>
              <a:ext cx="520700" cy="2309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44548" y="3550271"/>
            <a:ext cx="708470" cy="70847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683308" y="8549830"/>
            <a:ext cx="708470" cy="70847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761923" y="6081680"/>
            <a:ext cx="708470" cy="708470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1092821"/>
            <a:ext cx="708470" cy="708470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8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134414" y="4773992"/>
            <a:ext cx="5093046" cy="1804799"/>
            <a:chOff x="0" y="0"/>
            <a:chExt cx="1065762" cy="3776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65762" cy="377669"/>
            </a:xfrm>
            <a:custGeom>
              <a:avLst/>
              <a:gdLst/>
              <a:ahLst/>
              <a:cxnLst/>
              <a:rect r="r" b="b" t="t" l="l"/>
              <a:pathLst>
                <a:path h="377669" w="1065762">
                  <a:moveTo>
                    <a:pt x="36482" y="0"/>
                  </a:moveTo>
                  <a:lnTo>
                    <a:pt x="1029280" y="0"/>
                  </a:lnTo>
                  <a:cubicBezTo>
                    <a:pt x="1049429" y="0"/>
                    <a:pt x="1065762" y="16334"/>
                    <a:pt x="1065762" y="36482"/>
                  </a:cubicBezTo>
                  <a:lnTo>
                    <a:pt x="1065762" y="341187"/>
                  </a:lnTo>
                  <a:cubicBezTo>
                    <a:pt x="1065762" y="361336"/>
                    <a:pt x="1049429" y="377669"/>
                    <a:pt x="1029280" y="377669"/>
                  </a:cubicBezTo>
                  <a:lnTo>
                    <a:pt x="36482" y="377669"/>
                  </a:lnTo>
                  <a:cubicBezTo>
                    <a:pt x="16334" y="377669"/>
                    <a:pt x="0" y="361336"/>
                    <a:pt x="0" y="341187"/>
                  </a:cubicBezTo>
                  <a:lnTo>
                    <a:pt x="0" y="36482"/>
                  </a:lnTo>
                  <a:cubicBezTo>
                    <a:pt x="0" y="16334"/>
                    <a:pt x="16334" y="0"/>
                    <a:pt x="36482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065762" cy="387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6655275" y="0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3" y="0"/>
                </a:lnTo>
                <a:lnTo>
                  <a:pt x="4196123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35278" y="1299399"/>
            <a:ext cx="295315" cy="295315"/>
          </a:xfrm>
          <a:custGeom>
            <a:avLst/>
            <a:gdLst/>
            <a:ahLst/>
            <a:cxnLst/>
            <a:rect r="r" b="b" t="t" l="l"/>
            <a:pathLst>
              <a:path h="295315" w="295315">
                <a:moveTo>
                  <a:pt x="0" y="0"/>
                </a:moveTo>
                <a:lnTo>
                  <a:pt x="295315" y="0"/>
                </a:lnTo>
                <a:lnTo>
                  <a:pt x="295315" y="295315"/>
                </a:lnTo>
                <a:lnTo>
                  <a:pt x="0" y="2953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413558" y="3761041"/>
            <a:ext cx="370451" cy="286931"/>
          </a:xfrm>
          <a:custGeom>
            <a:avLst/>
            <a:gdLst/>
            <a:ahLst/>
            <a:cxnLst/>
            <a:rect r="r" b="b" t="t" l="l"/>
            <a:pathLst>
              <a:path h="286931" w="370451">
                <a:moveTo>
                  <a:pt x="0" y="0"/>
                </a:moveTo>
                <a:lnTo>
                  <a:pt x="370451" y="0"/>
                </a:lnTo>
                <a:lnTo>
                  <a:pt x="370451" y="286931"/>
                </a:lnTo>
                <a:lnTo>
                  <a:pt x="0" y="2869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892493" y="8709010"/>
            <a:ext cx="290100" cy="390110"/>
          </a:xfrm>
          <a:custGeom>
            <a:avLst/>
            <a:gdLst/>
            <a:ahLst/>
            <a:cxnLst/>
            <a:rect r="r" b="b" t="t" l="l"/>
            <a:pathLst>
              <a:path h="390110" w="290100">
                <a:moveTo>
                  <a:pt x="0" y="0"/>
                </a:moveTo>
                <a:lnTo>
                  <a:pt x="290100" y="0"/>
                </a:lnTo>
                <a:lnTo>
                  <a:pt x="290100" y="390110"/>
                </a:lnTo>
                <a:lnTo>
                  <a:pt x="0" y="3901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947814" y="6267877"/>
            <a:ext cx="336689" cy="336077"/>
          </a:xfrm>
          <a:custGeom>
            <a:avLst/>
            <a:gdLst/>
            <a:ahLst/>
            <a:cxnLst/>
            <a:rect r="r" b="b" t="t" l="l"/>
            <a:pathLst>
              <a:path h="336077" w="336689">
                <a:moveTo>
                  <a:pt x="0" y="0"/>
                </a:moveTo>
                <a:lnTo>
                  <a:pt x="336689" y="0"/>
                </a:lnTo>
                <a:lnTo>
                  <a:pt x="336689" y="336077"/>
                </a:lnTo>
                <a:lnTo>
                  <a:pt x="0" y="336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0244031" y="1821242"/>
            <a:ext cx="423249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H</a:t>
            </a:r>
            <a:r>
              <a:rPr lang="en-US" sz="6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EADLINE KPIS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76653" y="5464458"/>
            <a:ext cx="1608569" cy="61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2019–23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15715" y="3742582"/>
            <a:ext cx="17502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1,500+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854474" y="8742140"/>
            <a:ext cx="2279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20+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933090" y="6273991"/>
            <a:ext cx="245868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25+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9866" y="1285132"/>
            <a:ext cx="17502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$200M+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7480" y="8999817"/>
            <a:ext cx="3459382" cy="465444"/>
          </a:xfrm>
          <a:custGeom>
            <a:avLst/>
            <a:gdLst/>
            <a:ahLst/>
            <a:cxnLst/>
            <a:rect r="r" b="b" t="t" l="l"/>
            <a:pathLst>
              <a:path h="465444" w="3459382">
                <a:moveTo>
                  <a:pt x="0" y="0"/>
                </a:moveTo>
                <a:lnTo>
                  <a:pt x="3459381" y="0"/>
                </a:lnTo>
                <a:lnTo>
                  <a:pt x="3459381" y="465444"/>
                </a:lnTo>
                <a:lnTo>
                  <a:pt x="0" y="4654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1084191" y="1001830"/>
            <a:ext cx="1632508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225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05 KEY NUMBERS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15406" y="4848852"/>
            <a:ext cx="4057650" cy="59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2899">
                <a:solidFill>
                  <a:srgbClr val="000000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Time-Period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07855" y="8742140"/>
            <a:ext cx="22799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Countries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31959" y="6159691"/>
            <a:ext cx="274701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Car models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290310" y="3628282"/>
            <a:ext cx="274701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Units sold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186080" y="1170832"/>
            <a:ext cx="274701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Total revenue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8781" y="7744967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1238" y="-2033048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0806" y="845361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8"/>
                </a:lnTo>
                <a:lnTo>
                  <a:pt x="0" y="36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5409" y="8487324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3203" y="3133422"/>
            <a:ext cx="16325088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EEF2F5"/>
                </a:solidFill>
                <a:latin typeface="Georgia"/>
                <a:ea typeface="Georgia"/>
                <a:cs typeface="Georgia"/>
                <a:sym typeface="Georgia"/>
              </a:rPr>
              <a:t>What the data told us</a:t>
            </a:r>
          </a:p>
        </p:txBody>
      </p:sp>
      <p:sp>
        <p:nvSpPr>
          <p:cNvPr name="AutoShape 7" id="7"/>
          <p:cNvSpPr/>
          <p:nvPr/>
        </p:nvSpPr>
        <p:spPr>
          <a:xfrm rot="4139">
            <a:off x="1209665" y="3144145"/>
            <a:ext cx="15868660" cy="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475433" y="4440505"/>
            <a:ext cx="29969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0000"/>
                </a:solidFill>
                <a:latin typeface="Arimo"/>
                <a:ea typeface="Arimo"/>
                <a:cs typeface="Arimo"/>
                <a:sym typeface="Arimo"/>
              </a:rPr>
              <a:t>Top models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73069" y="4437334"/>
            <a:ext cx="548565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EEF2F5"/>
                </a:solidFill>
                <a:latin typeface="Arimo"/>
                <a:ea typeface="Arimo"/>
                <a:cs typeface="Arimo"/>
                <a:sym typeface="Arimo"/>
              </a:rPr>
              <a:t>AMG GT and S-Class lead revenue</a:t>
            </a:r>
          </a:p>
        </p:txBody>
      </p:sp>
      <p:sp>
        <p:nvSpPr>
          <p:cNvPr name="AutoShape 10" id="10"/>
          <p:cNvSpPr/>
          <p:nvPr/>
        </p:nvSpPr>
        <p:spPr>
          <a:xfrm>
            <a:off x="2467348" y="5164375"/>
            <a:ext cx="13465346" cy="1911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75433" y="5424762"/>
            <a:ext cx="29969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0000"/>
                </a:solidFill>
                <a:latin typeface="Arimo"/>
                <a:ea typeface="Arimo"/>
                <a:cs typeface="Arimo"/>
                <a:sym typeface="Arimo"/>
              </a:rPr>
              <a:t>Top regions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73069" y="5421580"/>
            <a:ext cx="4114674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EEF2F5"/>
                </a:solidFill>
                <a:latin typeface="Arimo"/>
                <a:ea typeface="Arimo"/>
                <a:cs typeface="Arimo"/>
                <a:sym typeface="Arimo"/>
              </a:rPr>
              <a:t>North America and Europe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2467348" y="6148632"/>
            <a:ext cx="13465346" cy="1911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2475433" y="6409009"/>
            <a:ext cx="29969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0000"/>
                </a:solidFill>
                <a:latin typeface="Arimo"/>
                <a:ea typeface="Arimo"/>
                <a:cs typeface="Arimo"/>
                <a:sym typeface="Arimo"/>
              </a:rPr>
              <a:t>Growth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73069" y="6405837"/>
            <a:ext cx="4386543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EEF2F5"/>
                </a:solidFill>
                <a:latin typeface="Arimo"/>
                <a:ea typeface="Arimo"/>
                <a:cs typeface="Arimo"/>
                <a:sym typeface="Arimo"/>
              </a:rPr>
              <a:t>2023 was the strongest year</a:t>
            </a:r>
          </a:p>
        </p:txBody>
      </p:sp>
      <p:sp>
        <p:nvSpPr>
          <p:cNvPr name="AutoShape 16" id="16"/>
          <p:cNvSpPr/>
          <p:nvPr/>
        </p:nvSpPr>
        <p:spPr>
          <a:xfrm>
            <a:off x="2467348" y="7132878"/>
            <a:ext cx="13465346" cy="1911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475433" y="7393255"/>
            <a:ext cx="29969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0000"/>
                </a:solidFill>
                <a:latin typeface="Arimo"/>
                <a:ea typeface="Arimo"/>
                <a:cs typeface="Arimo"/>
                <a:sym typeface="Arimo"/>
              </a:rPr>
              <a:t>Channels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73069" y="7390084"/>
            <a:ext cx="4250354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EEF2F5"/>
                </a:solidFill>
                <a:latin typeface="Arimo"/>
                <a:ea typeface="Arimo"/>
                <a:cs typeface="Arimo"/>
                <a:sym typeface="Arimo"/>
              </a:rPr>
              <a:t>Wholesale dominates sales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2467348" y="8117125"/>
            <a:ext cx="13465346" cy="1911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475433" y="8377512"/>
            <a:ext cx="2996969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CB0000"/>
                </a:solidFill>
                <a:latin typeface="Arimo"/>
                <a:ea typeface="Arimo"/>
                <a:cs typeface="Arimo"/>
                <a:sym typeface="Arimo"/>
              </a:rPr>
              <a:t>EVs rising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73069" y="8374330"/>
            <a:ext cx="5143059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700">
                <a:solidFill>
                  <a:srgbClr val="EEF2F5"/>
                </a:solidFill>
                <a:latin typeface="Arimo"/>
                <a:ea typeface="Arimo"/>
                <a:cs typeface="Arimo"/>
                <a:sym typeface="Arimo"/>
              </a:rPr>
              <a:t>EQB, EQA and EQE growing fast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5871" y="2260703"/>
            <a:ext cx="17048730" cy="34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 spc="234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06 KEY FINDINGS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8781" y="7744967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1238" y="-2033048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0806" y="845361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8"/>
                </a:lnTo>
                <a:lnTo>
                  <a:pt x="0" y="36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5409" y="8487324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13203" y="3133422"/>
            <a:ext cx="874782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EEF2F5"/>
                </a:solidFill>
                <a:latin typeface="Georgia"/>
                <a:ea typeface="Georgia"/>
                <a:cs typeface="Georgia"/>
                <a:sym typeface="Georgia"/>
              </a:rPr>
              <a:t>What Mercedes should do</a:t>
            </a:r>
          </a:p>
        </p:txBody>
      </p:sp>
      <p:sp>
        <p:nvSpPr>
          <p:cNvPr name="AutoShape 7" id="7"/>
          <p:cNvSpPr/>
          <p:nvPr/>
        </p:nvSpPr>
        <p:spPr>
          <a:xfrm rot="4139">
            <a:off x="1209665" y="3144145"/>
            <a:ext cx="15868660" cy="0"/>
          </a:xfrm>
          <a:prstGeom prst="line">
            <a:avLst/>
          </a:prstGeom>
          <a:ln cap="rnd" w="9525">
            <a:solidFill>
              <a:srgbClr val="2A2F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75871" y="2260703"/>
            <a:ext cx="17048730" cy="34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 spc="234">
                <a:solidFill>
                  <a:srgbClr val="FFBD59"/>
                </a:solidFill>
                <a:latin typeface="Arimo"/>
                <a:ea typeface="Arimo"/>
                <a:cs typeface="Arimo"/>
                <a:sym typeface="Arimo"/>
              </a:rPr>
              <a:t>07 RECOMMENDATIONS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070331" y="4505022"/>
          <a:ext cx="14317949" cy="4398888"/>
        </p:xfrm>
        <a:graphic>
          <a:graphicData uri="http://schemas.openxmlformats.org/drawingml/2006/table">
            <a:tbl>
              <a:tblPr/>
              <a:tblGrid>
                <a:gridCol w="7158974"/>
                <a:gridCol w="7158974"/>
              </a:tblGrid>
              <a:tr h="879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PRIORITY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051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ACTION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0513"/>
                    </a:solidFill>
                  </a:tcPr>
                </a:tc>
              </a:tr>
              <a:tr h="879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Focus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Push top models harder in marketing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7F9F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9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Expand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Target underperforming regions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9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Electrify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Promote the EV lineup more aggressively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97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Optimize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42"/>
                        </a:lnSpc>
                        <a:defRPr/>
                      </a:pPr>
                      <a:r>
                        <a:rPr lang="en-US" sz="2173">
                          <a:solidFill>
                            <a:srgbClr val="E9E9E9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Balance Wholesale vs. Dealership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1500">
                      <a:solidFill>
                        <a:srgbClr val="88A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728781" y="7744967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1238" y="-2033048"/>
            <a:ext cx="4196123" cy="3364528"/>
          </a:xfrm>
          <a:custGeom>
            <a:avLst/>
            <a:gdLst/>
            <a:ahLst/>
            <a:cxnLst/>
            <a:rect r="r" b="b" t="t" l="l"/>
            <a:pathLst>
              <a:path h="3364528" w="4196123">
                <a:moveTo>
                  <a:pt x="0" y="0"/>
                </a:moveTo>
                <a:lnTo>
                  <a:pt x="4196124" y="0"/>
                </a:lnTo>
                <a:lnTo>
                  <a:pt x="4196124" y="3364528"/>
                </a:lnTo>
                <a:lnTo>
                  <a:pt x="0" y="3364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40806" y="845361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8"/>
                </a:lnTo>
                <a:lnTo>
                  <a:pt x="0" y="3666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45409" y="8487324"/>
            <a:ext cx="813891" cy="770976"/>
          </a:xfrm>
          <a:custGeom>
            <a:avLst/>
            <a:gdLst/>
            <a:ahLst/>
            <a:cxnLst/>
            <a:rect r="r" b="b" t="t" l="l"/>
            <a:pathLst>
              <a:path h="770976" w="813891">
                <a:moveTo>
                  <a:pt x="0" y="0"/>
                </a:moveTo>
                <a:lnTo>
                  <a:pt x="813891" y="0"/>
                </a:lnTo>
                <a:lnTo>
                  <a:pt x="813891" y="770976"/>
                </a:lnTo>
                <a:lnTo>
                  <a:pt x="0" y="7709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91757" y="2042725"/>
            <a:ext cx="9460597" cy="3059960"/>
            <a:chOff x="0" y="0"/>
            <a:chExt cx="2491680" cy="8059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91680" cy="805915"/>
            </a:xfrm>
            <a:custGeom>
              <a:avLst/>
              <a:gdLst/>
              <a:ahLst/>
              <a:cxnLst/>
              <a:rect r="r" b="b" t="t" l="l"/>
              <a:pathLst>
                <a:path h="805915" w="2491680">
                  <a:moveTo>
                    <a:pt x="41735" y="0"/>
                  </a:moveTo>
                  <a:lnTo>
                    <a:pt x="2449945" y="0"/>
                  </a:lnTo>
                  <a:cubicBezTo>
                    <a:pt x="2472995" y="0"/>
                    <a:pt x="2491680" y="18685"/>
                    <a:pt x="2491680" y="41735"/>
                  </a:cubicBezTo>
                  <a:lnTo>
                    <a:pt x="2491680" y="764180"/>
                  </a:lnTo>
                  <a:cubicBezTo>
                    <a:pt x="2491680" y="775249"/>
                    <a:pt x="2487283" y="785865"/>
                    <a:pt x="2479456" y="793692"/>
                  </a:cubicBezTo>
                  <a:cubicBezTo>
                    <a:pt x="2471629" y="801518"/>
                    <a:pt x="2461014" y="805915"/>
                    <a:pt x="2449945" y="805915"/>
                  </a:cubicBezTo>
                  <a:lnTo>
                    <a:pt x="41735" y="805915"/>
                  </a:lnTo>
                  <a:cubicBezTo>
                    <a:pt x="30666" y="805915"/>
                    <a:pt x="20051" y="801518"/>
                    <a:pt x="12224" y="793692"/>
                  </a:cubicBezTo>
                  <a:cubicBezTo>
                    <a:pt x="4397" y="785865"/>
                    <a:pt x="0" y="775249"/>
                    <a:pt x="0" y="764180"/>
                  </a:cubicBezTo>
                  <a:lnTo>
                    <a:pt x="0" y="41735"/>
                  </a:lnTo>
                  <a:cubicBezTo>
                    <a:pt x="0" y="30666"/>
                    <a:pt x="4397" y="20051"/>
                    <a:pt x="12224" y="12224"/>
                  </a:cubicBezTo>
                  <a:cubicBezTo>
                    <a:pt x="20051" y="4397"/>
                    <a:pt x="30666" y="0"/>
                    <a:pt x="41735" y="0"/>
                  </a:cubicBezTo>
                  <a:close/>
                </a:path>
              </a:pathLst>
            </a:custGeom>
            <a:solidFill>
              <a:srgbClr val="47051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91680" cy="853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20457" y="5596310"/>
            <a:ext cx="9613995" cy="3059828"/>
            <a:chOff x="0" y="0"/>
            <a:chExt cx="2532081" cy="805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2081" cy="805881"/>
            </a:xfrm>
            <a:custGeom>
              <a:avLst/>
              <a:gdLst/>
              <a:ahLst/>
              <a:cxnLst/>
              <a:rect r="r" b="b" t="t" l="l"/>
              <a:pathLst>
                <a:path h="805881" w="2532081">
                  <a:moveTo>
                    <a:pt x="41069" y="0"/>
                  </a:moveTo>
                  <a:lnTo>
                    <a:pt x="2491012" y="0"/>
                  </a:lnTo>
                  <a:cubicBezTo>
                    <a:pt x="2513694" y="0"/>
                    <a:pt x="2532081" y="18387"/>
                    <a:pt x="2532081" y="41069"/>
                  </a:cubicBezTo>
                  <a:lnTo>
                    <a:pt x="2532081" y="764812"/>
                  </a:lnTo>
                  <a:cubicBezTo>
                    <a:pt x="2532081" y="775704"/>
                    <a:pt x="2527754" y="786150"/>
                    <a:pt x="2520052" y="793852"/>
                  </a:cubicBezTo>
                  <a:cubicBezTo>
                    <a:pt x="2512350" y="801554"/>
                    <a:pt x="2501904" y="805881"/>
                    <a:pt x="2491012" y="805881"/>
                  </a:cubicBezTo>
                  <a:lnTo>
                    <a:pt x="41069" y="805881"/>
                  </a:lnTo>
                  <a:cubicBezTo>
                    <a:pt x="30177" y="805881"/>
                    <a:pt x="19731" y="801554"/>
                    <a:pt x="12029" y="793852"/>
                  </a:cubicBezTo>
                  <a:cubicBezTo>
                    <a:pt x="4327" y="786150"/>
                    <a:pt x="0" y="775704"/>
                    <a:pt x="0" y="764812"/>
                  </a:cubicBezTo>
                  <a:lnTo>
                    <a:pt x="0" y="41069"/>
                  </a:lnTo>
                  <a:cubicBezTo>
                    <a:pt x="0" y="30177"/>
                    <a:pt x="4327" y="19731"/>
                    <a:pt x="12029" y="12029"/>
                  </a:cubicBezTo>
                  <a:cubicBezTo>
                    <a:pt x="19731" y="4327"/>
                    <a:pt x="30177" y="0"/>
                    <a:pt x="41069" y="0"/>
                  </a:cubicBezTo>
                  <a:close/>
                </a:path>
              </a:pathLst>
            </a:custGeom>
            <a:solidFill>
              <a:srgbClr val="251E2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532081" cy="8535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2802689" y="-318213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20" y="0"/>
                </a:lnTo>
                <a:lnTo>
                  <a:pt x="854320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078851" y="6531491"/>
            <a:ext cx="854319" cy="855996"/>
          </a:xfrm>
          <a:custGeom>
            <a:avLst/>
            <a:gdLst/>
            <a:ahLst/>
            <a:cxnLst/>
            <a:rect r="r" b="b" t="t" l="l"/>
            <a:pathLst>
              <a:path h="855996" w="854319">
                <a:moveTo>
                  <a:pt x="0" y="0"/>
                </a:moveTo>
                <a:lnTo>
                  <a:pt x="854319" y="0"/>
                </a:lnTo>
                <a:lnTo>
                  <a:pt x="854319" y="855996"/>
                </a:lnTo>
                <a:lnTo>
                  <a:pt x="0" y="855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15777" r="-295051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43909" y="2350462"/>
            <a:ext cx="929885" cy="929885"/>
          </a:xfrm>
          <a:custGeom>
            <a:avLst/>
            <a:gdLst/>
            <a:ahLst/>
            <a:cxnLst/>
            <a:rect r="r" b="b" t="t" l="l"/>
            <a:pathLst>
              <a:path h="929885" w="929885">
                <a:moveTo>
                  <a:pt x="0" y="0"/>
                </a:moveTo>
                <a:lnTo>
                  <a:pt x="929885" y="0"/>
                </a:lnTo>
                <a:lnTo>
                  <a:pt x="929885" y="929885"/>
                </a:lnTo>
                <a:lnTo>
                  <a:pt x="0" y="9298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057648" y="5968375"/>
            <a:ext cx="633310" cy="796617"/>
          </a:xfrm>
          <a:custGeom>
            <a:avLst/>
            <a:gdLst/>
            <a:ahLst/>
            <a:cxnLst/>
            <a:rect r="r" b="b" t="t" l="l"/>
            <a:pathLst>
              <a:path h="796617" w="633310">
                <a:moveTo>
                  <a:pt x="0" y="0"/>
                </a:moveTo>
                <a:lnTo>
                  <a:pt x="633310" y="0"/>
                </a:lnTo>
                <a:lnTo>
                  <a:pt x="633310" y="796617"/>
                </a:lnTo>
                <a:lnTo>
                  <a:pt x="0" y="7966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49660" y="1368752"/>
            <a:ext cx="4602518" cy="192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true">
                <a:gradFill>
                  <a:gsLst>
                    <a:gs pos="0">
                      <a:srgbClr val="FF9425">
                        <a:alpha val="100000"/>
                      </a:srgbClr>
                    </a:gs>
                    <a:gs pos="100000">
                      <a:srgbClr val="FFCE62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Heading Now 71-78 Bold"/>
                <a:ea typeface="Heading Now 71-78 Bold"/>
                <a:cs typeface="Heading Now 71-78 Bold"/>
                <a:sym typeface="Heading Now 71-78 Bold"/>
              </a:rPr>
              <a:t>Project Links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43909" y="3581717"/>
            <a:ext cx="840150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https://github.com/Abdalla820/Mercedes-Benz-Sales-2019-2023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71567" y="7339862"/>
            <a:ext cx="9162885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https://github.com/prince-pastakiya/Mercedes-Benz-Sales-Data-Analysis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457" y="2588709"/>
            <a:ext cx="3287678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Github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91420" y="6140022"/>
            <a:ext cx="2822242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40806" y="7715846"/>
            <a:ext cx="15296123" cy="1542454"/>
            <a:chOff x="0" y="0"/>
            <a:chExt cx="6045249" cy="6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45249" cy="609600"/>
            </a:xfrm>
            <a:custGeom>
              <a:avLst/>
              <a:gdLst/>
              <a:ahLst/>
              <a:cxnLst/>
              <a:rect r="r" b="b" t="t" l="l"/>
              <a:pathLst>
                <a:path h="609600" w="6045249">
                  <a:moveTo>
                    <a:pt x="203200" y="0"/>
                  </a:moveTo>
                  <a:lnTo>
                    <a:pt x="6045249" y="0"/>
                  </a:lnTo>
                  <a:lnTo>
                    <a:pt x="5842049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9425">
                    <a:alpha val="100000"/>
                  </a:srgbClr>
                </a:gs>
                <a:gs pos="100000">
                  <a:srgbClr val="FFCE62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9525"/>
              <a:ext cx="5842049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520074" y="2179074"/>
            <a:ext cx="7394260" cy="5928852"/>
          </a:xfrm>
          <a:custGeom>
            <a:avLst/>
            <a:gdLst/>
            <a:ahLst/>
            <a:cxnLst/>
            <a:rect r="r" b="b" t="t" l="l"/>
            <a:pathLst>
              <a:path h="5928852" w="7394260">
                <a:moveTo>
                  <a:pt x="0" y="0"/>
                </a:moveTo>
                <a:lnTo>
                  <a:pt x="7394259" y="0"/>
                </a:lnTo>
                <a:lnTo>
                  <a:pt x="7394259" y="5928852"/>
                </a:lnTo>
                <a:lnTo>
                  <a:pt x="0" y="5928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40806" y="2400639"/>
            <a:ext cx="5822274" cy="366679"/>
          </a:xfrm>
          <a:custGeom>
            <a:avLst/>
            <a:gdLst/>
            <a:ahLst/>
            <a:cxnLst/>
            <a:rect r="r" b="b" t="t" l="l"/>
            <a:pathLst>
              <a:path h="366679" w="5822274">
                <a:moveTo>
                  <a:pt x="0" y="0"/>
                </a:moveTo>
                <a:lnTo>
                  <a:pt x="5822274" y="0"/>
                </a:lnTo>
                <a:lnTo>
                  <a:pt x="5822274" y="366679"/>
                </a:lnTo>
                <a:lnTo>
                  <a:pt x="0" y="3666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0" y="-731182"/>
            <a:ext cx="18288000" cy="4123113"/>
          </a:xfrm>
          <a:custGeom>
            <a:avLst/>
            <a:gdLst/>
            <a:ahLst/>
            <a:cxnLst/>
            <a:rect r="r" b="b" t="t" l="l"/>
            <a:pathLst>
              <a:path h="4123113" w="18288000">
                <a:moveTo>
                  <a:pt x="0" y="4123113"/>
                </a:moveTo>
                <a:lnTo>
                  <a:pt x="18288000" y="4123113"/>
                </a:lnTo>
                <a:lnTo>
                  <a:pt x="18288000" y="0"/>
                </a:lnTo>
                <a:lnTo>
                  <a:pt x="0" y="0"/>
                </a:lnTo>
                <a:lnTo>
                  <a:pt x="0" y="4123113"/>
                </a:lnTo>
                <a:close/>
              </a:path>
            </a:pathLst>
          </a:custGeom>
          <a:blipFill>
            <a:blip r:embed="rId6">
              <a:alphaModFix amt="1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878252" y="3391931"/>
            <a:ext cx="9539631" cy="8198120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8"/>
              <a:stretch>
                <a:fillRect l="0" t="-8181" r="0" b="-818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42666" y="3784575"/>
            <a:ext cx="8029210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sz="9999" spc="124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69104" y="8172699"/>
            <a:ext cx="5347003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presented by</a:t>
            </a:r>
          </a:p>
          <a:p>
            <a:pPr algn="l">
              <a:lnSpc>
                <a:spcPts val="3239"/>
              </a:lnSpc>
            </a:pPr>
            <a:r>
              <a:rPr lang="en-US" sz="26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Abdalla Mohamed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5850236"/>
            <a:ext cx="1632508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>
                <a:solidFill>
                  <a:srgbClr val="A9D6F5"/>
                </a:solidFill>
                <a:latin typeface="Arimo"/>
                <a:ea typeface="Arimo"/>
                <a:cs typeface="Arimo"/>
                <a:sym typeface="Arimo"/>
                <a:hlinkClick r:id="rId9" tooltip="https://www.linkedin.com/in/abdalla-mohamed-farouk/"/>
              </a:rPr>
              <a:t>linkedin.com/in/abdalla-mohamed-farouk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DAHYL0V5mnY</dc:identifier>
  <dcterms:modified xsi:type="dcterms:W3CDTF">2011-08-01T06:04:30Z</dcterms:modified>
  <cp:revision>1</cp:revision>
  <dc:title>Mercedes_Sales_Presentation</dc:title>
</cp:coreProperties>
</file>